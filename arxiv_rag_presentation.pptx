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132A4E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365760"/>
            <a:ext cx="2194560" cy="2194560"/>
          </a:xfrm>
          <a:prstGeom prst="ellipse">
            <a:avLst/>
          </a:prstGeom>
          <a:solidFill>
            <a:srgbClr val="1B3B6B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206240"/>
            <a:ext cx="2377440" cy="2377440"/>
          </a:xfrm>
          <a:prstGeom prst="ellipse">
            <a:avLst/>
          </a:prstGeom>
          <a:solidFill>
            <a:srgbClr val="132A4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 EDUCATION · КЕЙС «ПОИСКОВИК, RAG»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Гибридный поисковик по arXiv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RAG-суммаризацией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векторный поиск (Qdrant/HNSW) поверх 7800 статей arXiv,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объединённые через Reciprocal Rank Fusion, с ответами LLM по источникам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5806440"/>
            <a:ext cx="914400" cy="0"/>
          </a:xfrm>
          <a:prstGeom prst="line">
            <a:avLst/>
          </a:prstGeom>
          <a:noFill/>
          <a:ln w="31750">
            <a:solidFill>
              <a:srgbClr val="00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 проекта  ·  Дата защиты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по ТЗ (MVP кейса)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обязательных пункта минимального жизнеспособного продукта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2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85623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Парсинг информационного ресурса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37744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данных из внешнего открытого источника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2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1920240"/>
            <a:ext cx="502920" cy="5029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185623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данных в поисковые индексы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237744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Построение структур для быстрого поиска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2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Сервис: запрос → поисковая выдача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11480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API-эндпоинт с ранжированным результатом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42900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2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5080" y="3657600"/>
            <a:ext cx="502920" cy="5029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0880" y="359359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Суммаризация результата с помощью LLM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411480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RAG-ответ на основе найденных документов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0077F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62356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4 пункта выполнены  +  расширения: гибридный поиск, ранжирование, локализация, UI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Гибридный поисковик по arXiv с RAG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решения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независимых индекса объединяются на уровне сервиса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0632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2F6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9125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5753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браузер, /search и /ask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880360" y="306324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0077FF"/>
          </a:solidFill>
          <a:ln/>
        </p:spPr>
      </p:sp>
      <p:sp>
        <p:nvSpPr>
          <p:cNvPr id="8" name="Text 6"/>
          <p:cNvSpPr/>
          <p:nvPr/>
        </p:nvSpPr>
        <p:spPr>
          <a:xfrm>
            <a:off x="2880360" y="319125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FastAPI-сервис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880360" y="35753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маршрутизация запросов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715000" y="18745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2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0" y="200253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BM25-индекс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715000" y="238658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rank_bm25, полнотекстовый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15000" y="42976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2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5715000" y="442569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/ HNSW-индекс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715000" y="480974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векторный, косинусная близость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915400" y="306324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132A4E"/>
          </a:solidFill>
          <a:ln/>
        </p:spPr>
      </p:sp>
      <p:sp>
        <p:nvSpPr>
          <p:cNvPr id="17" name="Text 15"/>
          <p:cNvSpPr/>
          <p:nvPr/>
        </p:nvSpPr>
        <p:spPr>
          <a:xfrm>
            <a:off x="8915400" y="3191256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915400" y="3575304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 — только для /ask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77440" y="3497580"/>
            <a:ext cx="50292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5166360" y="2286000"/>
            <a:ext cx="548640" cy="121158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66360" y="3497580"/>
            <a:ext cx="548640" cy="121158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366760" y="3497580"/>
            <a:ext cx="54864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E6F0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257800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и векторный индекс работают параллельно и независимо — сервис объединяет их выдачи через Reciprocal Rank Fusion (см. слайд «/search»). Обращение к LLM происходит только на пути /ask.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Гибридный поисковик по arXiv с RAG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1. Парсинг информационного ресурса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9344"/>
            <a:ext cx="128016" cy="128016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8132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— arXiv API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68680" y="181051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публичный, без API-ключа; категория cs.CL (Computation and Language / NLP)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660904"/>
            <a:ext cx="128016" cy="128016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3288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Поля данных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86207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abstract, authors, категория, ссылка на статью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12464"/>
            <a:ext cx="128016" cy="128016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58444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хранения — JSONL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8680" y="391363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дедупликация по id, соблюдение rate limit: пауза 3 сек между батчами по 100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764024"/>
            <a:ext cx="128016" cy="128016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63600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arXiv, а не скрейпинг сайта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96519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официальный API, нет риска бана, готовая структура данных, легко набрать 5000+ документов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80960" y="1554480"/>
            <a:ext cx="3977640" cy="4206240"/>
          </a:xfrm>
          <a:prstGeom prst="roundRect">
            <a:avLst>
              <a:gd name="adj" fmla="val 2299"/>
            </a:avLst>
          </a:prstGeom>
          <a:solidFill>
            <a:srgbClr val="0A1A33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2148840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7 800</a:t>
            </a:r>
            <a:endParaRPr lang="en-US" sz="5800" dirty="0"/>
          </a:p>
        </p:txBody>
      </p:sp>
      <p:sp>
        <p:nvSpPr>
          <p:cNvPr id="17" name="Text 15"/>
          <p:cNvSpPr/>
          <p:nvPr/>
        </p:nvSpPr>
        <p:spPr>
          <a:xfrm>
            <a:off x="7680960" y="32461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документов собрано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366760" y="3794760"/>
            <a:ext cx="2606040" cy="0"/>
          </a:xfrm>
          <a:prstGeom prst="line">
            <a:avLst/>
          </a:prstGeom>
          <a:noFill/>
          <a:ln w="12700">
            <a:solidFill>
              <a:srgbClr val="2C4B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1000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категория cs.CL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01000" y="4480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JSONL, без дублей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001000" y="4937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rate-limit safe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Гибридный поисковик по arXiv с RAG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2. Построение поисковых индексов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Строятся два индекса одновременно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606040"/>
          </a:xfrm>
          <a:prstGeom prst="roundRect">
            <a:avLst>
              <a:gd name="adj" fmla="val 2807"/>
            </a:avLst>
          </a:prstGeom>
          <a:solidFill>
            <a:srgbClr val="F2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0136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rank_bm25 — чистый Python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76148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работает полностью в памяти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145536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полнотекстовый поиск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52958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точные совпадения терминов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349240" cy="2606040"/>
          </a:xfrm>
          <a:prstGeom prst="roundRect">
            <a:avLst>
              <a:gd name="adj" fmla="val 2807"/>
            </a:avLst>
          </a:prstGeom>
          <a:solidFill>
            <a:srgbClr val="0A1A33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0136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Векторный / HNSW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37960" y="23774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Qdrant, embedded-режим (без сервера)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276148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эмбеддер BAAI/bge-small-en-v1.5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37960" y="3145536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поиск по косинусной близости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352958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хранит документ + метаданные + вектор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6F0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43484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документ = один чанк (title + abstract) — дополнительный чанкинг не понадобился: тексты короткие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Qdrant, а не голый FAISS: Qdrant — полноценная БД (документ + метаданные + вектор + персистентность); FAISS — только индекс без хранилища.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Гибридный поисковик по arXiv с RAG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3. Сервис поиска — /search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0A1A3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/search?q=...&amp;top_n=N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2F6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871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top-50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лексический поиск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2F6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871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23774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2F6FC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24871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 top-50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семантический поиск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23774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A1A33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24871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Топ-N результатов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0" y="2880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title, url, snippet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228600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0077FF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23591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2200" y="2834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Fusion, k=60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0" y="2697480"/>
            <a:ext cx="32004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23560" y="2697480"/>
            <a:ext cx="54864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49640" y="2788920"/>
            <a:ext cx="41148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48640" y="36118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Ранжирования BM25 и вектора объединяются без нормализации score — RRF учитывает только позицию документа в каждой выдаче.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11094415" cy="1737360"/>
          </a:xfrm>
          <a:prstGeom prst="roundRect">
            <a:avLst>
              <a:gd name="adj" fmla="val 4211"/>
            </a:avLst>
          </a:prstGeom>
          <a:solidFill>
            <a:srgbClr val="F2F6FC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сервиса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4846320"/>
            <a:ext cx="1054577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каждого документа в топ-N: score, title, url, category, snippet.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защите — живой запрос к /search и разбор ответа в браузере.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Гибридный поисковик по arXiv с RAG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4. RAG-суммаризация — /ask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0A1A3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7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/ask?q=...&amp;top_n=5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962851" cy="1051560"/>
          </a:xfrm>
          <a:prstGeom prst="roundRect">
            <a:avLst>
              <a:gd name="adj" fmla="val 6957"/>
            </a:avLst>
          </a:prstGeom>
          <a:solidFill>
            <a:srgbClr val="F2F6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31720"/>
            <a:ext cx="1962851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1491" y="2857500"/>
            <a:ext cx="32004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1531" y="2331720"/>
            <a:ext cx="1962851" cy="1051560"/>
          </a:xfrm>
          <a:prstGeom prst="roundRect">
            <a:avLst>
              <a:gd name="adj" fmla="val 6957"/>
            </a:avLst>
          </a:prstGeom>
          <a:solidFill>
            <a:srgbClr val="F2F6FC"/>
          </a:solidFill>
          <a:ln/>
        </p:spPr>
      </p:sp>
      <p:sp>
        <p:nvSpPr>
          <p:cNvPr id="9" name="Text 7"/>
          <p:cNvSpPr/>
          <p:nvPr/>
        </p:nvSpPr>
        <p:spPr>
          <a:xfrm>
            <a:off x="2831531" y="2331720"/>
            <a:ext cx="1962851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Топ-5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документов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94382" y="2857500"/>
            <a:ext cx="32004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14422" y="2331720"/>
            <a:ext cx="1962851" cy="1051560"/>
          </a:xfrm>
          <a:prstGeom prst="roundRect">
            <a:avLst>
              <a:gd name="adj" fmla="val 6957"/>
            </a:avLst>
          </a:prstGeom>
          <a:solidFill>
            <a:srgbClr val="F2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5114422" y="2331720"/>
            <a:ext cx="1962851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 +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77273" y="2857500"/>
            <a:ext cx="32004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97313" y="2331720"/>
            <a:ext cx="1962851" cy="1051560"/>
          </a:xfrm>
          <a:prstGeom prst="roundRect">
            <a:avLst>
              <a:gd name="adj" fmla="val 6957"/>
            </a:avLst>
          </a:prstGeom>
          <a:solidFill>
            <a:srgbClr val="0077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97313" y="2331720"/>
            <a:ext cx="1962851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60164" y="2857500"/>
            <a:ext cx="32004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80204" y="2331720"/>
            <a:ext cx="1962851" cy="1051560"/>
          </a:xfrm>
          <a:prstGeom prst="roundRect">
            <a:avLst>
              <a:gd name="adj" fmla="val 6957"/>
            </a:avLst>
          </a:prstGeom>
          <a:solidFill>
            <a:srgbClr val="F2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9680204" y="2331720"/>
            <a:ext cx="1962851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с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источниками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0A1A33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Системный промпт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343400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Отвечать только на основе найденных документов, не придумывать факты и явно говорить, если документы не отвечают на вопрос.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защите — живой запрос к /ask: ответ модели и список документов-источников.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Гибридный поисковик по arXiv с RAG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· поддержка русского языка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F2F6F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Корпус документов и эмбеддер — англоязычные, а пользователи задают вопросы по-русски.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69164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0A1A33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9202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37960" y="24688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Автоперевод запроса RU → EN перед поиском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37960" y="29718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deep-translator / Google Translate, без API-ключа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37960" y="34747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Системный промпт требует отвечать полностью на русском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21208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E6F0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3218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/ после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62356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на русском → корректный русскоязычный ответ с источниками — пример на защите.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Гибридный поисковик по arXiv с RAG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· веб-интерфейс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Одностраничный UI без фреймворков, два режима работы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2F6FC"/>
          </a:solidFill>
          <a:ln w="12700">
            <a:solidFill>
              <a:srgbClr val="D7E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49240" cy="365760"/>
          </a:xfrm>
          <a:prstGeom prst="rect">
            <a:avLst/>
          </a:prstGeom>
          <a:solidFill>
            <a:srgbClr val="0A1A33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719072"/>
            <a:ext cx="128016" cy="128016"/>
          </a:xfrm>
          <a:prstGeom prst="ellipse">
            <a:avLst/>
          </a:prstGeom>
          <a:solidFill>
            <a:srgbClr val="FFB86B"/>
          </a:solidFill>
          <a:ln/>
        </p:spPr>
      </p:sp>
      <p:sp>
        <p:nvSpPr>
          <p:cNvPr id="7" name="Shape 5"/>
          <p:cNvSpPr/>
          <p:nvPr/>
        </p:nvSpPr>
        <p:spPr>
          <a:xfrm>
            <a:off x="886968" y="1719072"/>
            <a:ext cx="128016" cy="128016"/>
          </a:xfrm>
          <a:prstGeom prst="ellipse">
            <a:avLst/>
          </a:prstGeom>
          <a:solidFill>
            <a:srgbClr val="6BFFAA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" y="1719072"/>
            <a:ext cx="128016" cy="128016"/>
          </a:xfrm>
          <a:prstGeom prst="ellipse">
            <a:avLst/>
          </a:prstGeom>
          <a:solidFill>
            <a:srgbClr val="6BAAF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60020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Режим: Поиск документов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194560"/>
            <a:ext cx="48006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E3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19456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arXiv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2743200"/>
            <a:ext cx="4800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E3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81635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Title-ссылка на статью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10896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0.90  ·  cs.CL  ·  сниппет аннотации…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2960" y="3611880"/>
            <a:ext cx="4800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E3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68503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Title-ссылка на статью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97764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0.91  ·  cs.CL  ·  сниппет аннотации…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2960" y="4480560"/>
            <a:ext cx="4800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E3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55371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Title-ссылка на статью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48463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0.92  ·  cs.CL  ·  сниппет аннотации…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63640" y="160020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2F6FC"/>
          </a:solidFill>
          <a:ln w="12700">
            <a:solidFill>
              <a:srgbClr val="D7E3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600200"/>
            <a:ext cx="5349240" cy="365760"/>
          </a:xfrm>
          <a:prstGeom prst="rect">
            <a:avLst/>
          </a:prstGeom>
          <a:solidFill>
            <a:srgbClr val="0A1A33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0" y="1719072"/>
            <a:ext cx="128016" cy="128016"/>
          </a:xfrm>
          <a:prstGeom prst="ellipse">
            <a:avLst/>
          </a:prstGeom>
          <a:solidFill>
            <a:srgbClr val="FFB86B"/>
          </a:solidFill>
          <a:ln/>
        </p:spPr>
      </p:sp>
      <p:sp>
        <p:nvSpPr>
          <p:cNvPr id="24" name="Shape 22"/>
          <p:cNvSpPr/>
          <p:nvPr/>
        </p:nvSpPr>
        <p:spPr>
          <a:xfrm>
            <a:off x="6601968" y="1719072"/>
            <a:ext cx="128016" cy="128016"/>
          </a:xfrm>
          <a:prstGeom prst="ellipse">
            <a:avLst/>
          </a:prstGeom>
          <a:solidFill>
            <a:srgbClr val="6BFFAA"/>
          </a:solidFill>
          <a:ln/>
        </p:spPr>
      </p:sp>
      <p:sp>
        <p:nvSpPr>
          <p:cNvPr id="25" name="Shape 23"/>
          <p:cNvSpPr/>
          <p:nvPr/>
        </p:nvSpPr>
        <p:spPr>
          <a:xfrm>
            <a:off x="6803136" y="1719072"/>
            <a:ext cx="128016" cy="128016"/>
          </a:xfrm>
          <a:prstGeom prst="ellipse">
            <a:avLst/>
          </a:prstGeom>
          <a:solidFill>
            <a:srgbClr val="6BAAFF"/>
          </a:solidFill>
          <a:ln/>
        </p:spPr>
      </p:sp>
      <p:sp>
        <p:nvSpPr>
          <p:cNvPr id="26" name="Text 24"/>
          <p:cNvSpPr/>
          <p:nvPr/>
        </p:nvSpPr>
        <p:spPr>
          <a:xfrm>
            <a:off x="7086600" y="160020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Режим: Спросить ИИ (RAG)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37960" y="2194560"/>
            <a:ext cx="3209544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7E3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2331720"/>
            <a:ext cx="294208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модели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20840" y="2697480"/>
            <a:ext cx="294208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Развёрнутый ответ LLM крупным текстом, сформированный по найденным документам…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930384" y="2331720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930384" y="2697480"/>
            <a:ext cx="1499616" cy="502920"/>
          </a:xfrm>
          <a:prstGeom prst="roundRect">
            <a:avLst>
              <a:gd name="adj" fmla="val 10909"/>
            </a:avLst>
          </a:prstGeom>
          <a:solidFill>
            <a:srgbClr val="F2F6FC"/>
          </a:solidFill>
          <a:ln/>
        </p:spPr>
      </p:sp>
      <p:sp>
        <p:nvSpPr>
          <p:cNvPr id="32" name="Text 30"/>
          <p:cNvSpPr/>
          <p:nvPr/>
        </p:nvSpPr>
        <p:spPr>
          <a:xfrm>
            <a:off x="10021824" y="2697480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arXiv:2310.xxxxx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930384" y="3291840"/>
            <a:ext cx="1499616" cy="502920"/>
          </a:xfrm>
          <a:prstGeom prst="roundRect">
            <a:avLst>
              <a:gd name="adj" fmla="val 10909"/>
            </a:avLst>
          </a:prstGeom>
          <a:solidFill>
            <a:srgbClr val="F2F6FC"/>
          </a:solidFill>
          <a:ln/>
        </p:spPr>
      </p:sp>
      <p:sp>
        <p:nvSpPr>
          <p:cNvPr id="34" name="Text 32"/>
          <p:cNvSpPr/>
          <p:nvPr/>
        </p:nvSpPr>
        <p:spPr>
          <a:xfrm>
            <a:off x="10021824" y="3291840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arXiv:2311.xxxxx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930384" y="3886200"/>
            <a:ext cx="1499616" cy="502920"/>
          </a:xfrm>
          <a:prstGeom prst="roundRect">
            <a:avLst>
              <a:gd name="adj" fmla="val 10909"/>
            </a:avLst>
          </a:prstGeom>
          <a:solidFill>
            <a:srgbClr val="F2F6FC"/>
          </a:solidFill>
          <a:ln/>
        </p:spPr>
      </p:sp>
      <p:sp>
        <p:nvSpPr>
          <p:cNvPr id="36" name="Text 34"/>
          <p:cNvSpPr/>
          <p:nvPr/>
        </p:nvSpPr>
        <p:spPr>
          <a:xfrm>
            <a:off x="10021824" y="3886200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arXiv:2312.xxxxx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930384" y="4480560"/>
            <a:ext cx="1499616" cy="502920"/>
          </a:xfrm>
          <a:prstGeom prst="roundRect">
            <a:avLst>
              <a:gd name="adj" fmla="val 10909"/>
            </a:avLst>
          </a:prstGeom>
          <a:solidFill>
            <a:srgbClr val="F2F6FC"/>
          </a:solidFill>
          <a:ln/>
        </p:spPr>
      </p:sp>
      <p:sp>
        <p:nvSpPr>
          <p:cNvPr id="38" name="Text 36"/>
          <p:cNvSpPr/>
          <p:nvPr/>
        </p:nvSpPr>
        <p:spPr>
          <a:xfrm>
            <a:off x="10021824" y="4480560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arXiv:2313.xxxxx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Гибридный поисковик по arXiv с RAG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Технологический стек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4754880"/>
        </p:xfrm>
        <a:graphic>
          <a:graphicData uri="http://schemas.openxmlformats.org/drawingml/2006/table">
            <a:tbl>
              <a:tblPr/>
              <a:tblGrid>
                <a:gridCol w="4206240"/>
                <a:gridCol w="6888175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Компонент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Технология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Полнотекстовый поиск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· rank_bm25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Векторный поиск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Qdrant · HNSW · cosine similarity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Эмбеддинги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BAAI/bge-small-en-v1.5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· llama-3.3-70b-versatile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Перевод RU→EN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deep-translator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+ Uvicorn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Данные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 API · 7 800 документов, cs.CL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Гибридный поисковик по arXiv с RAG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запуск без облака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 можно записать и полностью прогнать на своей машине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2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87452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Единственный тяжёлый шаг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2267712"/>
            <a:ext cx="99971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Разовый подсчёт эмбеддингов — пара минут на Apple Silicon (mps)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0A1A33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291840"/>
            <a:ext cx="502920" cy="5029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315468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остальное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554480" y="3547872"/>
            <a:ext cx="99971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Лёгкий CPU / IO — не требует GPU или долгих вычислений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2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572000"/>
            <a:ext cx="502920" cy="5029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43484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LLM-инференс в облаке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54480" y="4828032"/>
            <a:ext cx="99971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Уходит в Groq API и не нагружает локальную машину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Гибридный поисковик по arXiv с RAG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 для живого показа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F2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691640"/>
            <a:ext cx="99056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на английском языке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F2F6FC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063240"/>
            <a:ext cx="502920" cy="5029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2834640"/>
            <a:ext cx="99056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на русском языке (с автопереводом запроса)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F2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3977640"/>
            <a:ext cx="99056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RAG-ответ с указанием источников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F2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5349240"/>
            <a:ext cx="502920" cy="5029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349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5120640"/>
            <a:ext cx="99056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без ответа в корпусе — модель честно отвечает «не знаю»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Гибридный поисковик по arXiv с RAG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200400" cy="3200400"/>
          </a:xfrm>
          <a:prstGeom prst="ellipse">
            <a:avLst/>
          </a:prstGeom>
          <a:solidFill>
            <a:srgbClr val="132A4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132A4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пункты MVP выполнены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4846320" cy="502920"/>
          </a:xfrm>
          <a:prstGeom prst="roundRect">
            <a:avLst>
              <a:gd name="adj" fmla="val 50909"/>
            </a:avLst>
          </a:prstGeom>
          <a:solidFill>
            <a:srgbClr val="0A1A33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48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Гибридный поиск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788920"/>
            <a:ext cx="4846320" cy="502920"/>
          </a:xfrm>
          <a:prstGeom prst="roundRect">
            <a:avLst>
              <a:gd name="adj" fmla="val 50909"/>
            </a:avLst>
          </a:prstGeom>
          <a:solidFill>
            <a:srgbClr val="0A1A33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7889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Локализация (RU)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429000"/>
            <a:ext cx="4846320" cy="502920"/>
          </a:xfrm>
          <a:prstGeom prst="roundRect">
            <a:avLst>
              <a:gd name="adj" fmla="val 50909"/>
            </a:avLst>
          </a:prstGeom>
          <a:solidFill>
            <a:srgbClr val="0A1A33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4290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Веб-интерфейс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132A4E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5544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можно улучшить дальше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21945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Фильтрация выдачи по категориям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276148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Ранжирование с доп. сигналами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0" y="332841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Реляционный слой: пользователи, роли, история запросов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0077F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52628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полностью закрыт + 3 расширения сверх ТЗ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Гибридный поисковик по arXiv с RAG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132A4E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3657600" cy="3657600"/>
          </a:xfrm>
          <a:prstGeom prst="ellipse">
            <a:avLst/>
          </a:prstGeom>
          <a:solidFill>
            <a:srgbClr val="132A4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777240" y="3429000"/>
            <a:ext cx="914400" cy="0"/>
          </a:xfrm>
          <a:prstGeom prst="line">
            <a:avLst/>
          </a:prstGeom>
          <a:noFill/>
          <a:ln w="31750">
            <a:solidFill>
              <a:srgbClr val="007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 проекта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7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github.com/KrutoyarovSL/vk_praktika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Гибридный поисковик по arXiv с RAG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2026-07-10T10:54:42Z</dcterms:created>
  <dcterms:modified xsi:type="dcterms:W3CDTF">2026-07-10T10:54:42Z</dcterms:modified>
</cp:coreProperties>
</file>